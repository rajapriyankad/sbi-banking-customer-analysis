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5" r:id="rId5"/>
    <p:sldId id="276" r:id="rId6"/>
    <p:sldId id="259" r:id="rId7"/>
    <p:sldId id="260" r:id="rId8"/>
    <p:sldId id="261" r:id="rId9"/>
    <p:sldId id="277" r:id="rId10"/>
    <p:sldId id="278" r:id="rId11"/>
    <p:sldId id="272" r:id="rId12"/>
    <p:sldId id="262" r:id="rId13"/>
    <p:sldId id="263" r:id="rId14"/>
    <p:sldId id="273" r:id="rId15"/>
    <p:sldId id="264" r:id="rId16"/>
    <p:sldId id="265" r:id="rId17"/>
    <p:sldId id="266" r:id="rId18"/>
    <p:sldId id="267" r:id="rId19"/>
    <p:sldId id="268" r:id="rId20"/>
    <p:sldId id="269" r:id="rId21"/>
    <p:sldId id="271" r:id="rId22"/>
    <p:sldId id="270" r:id="rId23"/>
    <p:sldId id="27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788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78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40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45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7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59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207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349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7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256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917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00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66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3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r>
              <a:rPr dirty="0"/>
              <a:t>SBI Banking Customer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51553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Excel Dashboard Project using Power Query, Formulas, Pivot Tables &amp; Charts</a:t>
            </a:r>
            <a:endParaRPr lang="en-IN" dirty="0"/>
          </a:p>
          <a:p>
            <a:r>
              <a:rPr lang="en-IN" dirty="0"/>
              <a:t>                                                </a:t>
            </a:r>
          </a:p>
          <a:p>
            <a:r>
              <a:rPr lang="en-IN" dirty="0"/>
              <a:t>                                                                            - By</a:t>
            </a:r>
          </a:p>
          <a:p>
            <a:pPr algn="r"/>
            <a:r>
              <a:rPr lang="en-IN" dirty="0"/>
              <a:t>RAJAPRIYANKA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</a:t>
            </a:r>
            <a:r>
              <a:rPr lang="en-IN" dirty="0"/>
              <a:t>Abstract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Analyze SBI banking customer behavior and account activity</a:t>
            </a:r>
          </a:p>
          <a:p>
            <a:r>
              <a:t>Understand customer distribution by age, state and banking usage</a:t>
            </a:r>
          </a:p>
          <a:p>
            <a:r>
              <a:t>Track deposits, balances, loans and digital banking adoption</a:t>
            </a:r>
          </a:p>
          <a:p>
            <a:r>
              <a:t>Build interactive Excel dashboard for business insights</a:t>
            </a:r>
          </a:p>
          <a:p>
            <a:r>
              <a:t>Use Power Query, formulas, pivot tables and charts for analysis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Workbook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Raw_Data Sheet – Contains 1000 customer records and 24 columns</a:t>
            </a:r>
          </a:p>
          <a:p>
            <a:r>
              <a:t>Formulas Used Sheet – KPI calculations and Excel formulas</a:t>
            </a:r>
          </a:p>
          <a:p>
            <a:r>
              <a:t>Pivot_Tables Sheet – Pivot summaries for analysis</a:t>
            </a:r>
          </a:p>
          <a:p>
            <a:r>
              <a:t>Dashboard Sheet – Final visual dashboard and KPI cards</a:t>
            </a:r>
          </a:p>
          <a:p>
            <a:r>
              <a:t>Data includes balances, loans, transactions, satisfaction and digital banking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921A-AE06-18EC-98EC-E6740181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DATASET DOWNLOAD -USING KAGGLE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803B-4112-D7D3-9B9B-D569BED55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Kaggle used for?</a:t>
            </a:r>
          </a:p>
          <a:p>
            <a:r>
              <a:rPr lang="en-IN" dirty="0"/>
              <a:t>Downloading datasets</a:t>
            </a:r>
          </a:p>
          <a:p>
            <a:r>
              <a:rPr lang="en-IN" dirty="0"/>
              <a:t>Learning Data Science</a:t>
            </a:r>
          </a:p>
          <a:p>
            <a:r>
              <a:rPr lang="en-IN" dirty="0"/>
              <a:t>Practicing Projects</a:t>
            </a:r>
          </a:p>
          <a:p>
            <a:r>
              <a:rPr lang="en-IN" dirty="0"/>
              <a:t>Competitions</a:t>
            </a:r>
          </a:p>
          <a:p>
            <a:r>
              <a:rPr lang="en-IN" dirty="0"/>
              <a:t>Using Notebooks</a:t>
            </a:r>
          </a:p>
        </p:txBody>
      </p:sp>
    </p:spTree>
    <p:extLst>
      <p:ext uri="{BB962C8B-B14F-4D97-AF65-F5344CB8AC3E}">
        <p14:creationId xmlns:p14="http://schemas.microsoft.com/office/powerpoint/2010/main" val="3983334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515F-7D5B-6E0F-FCC4-07F906C05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6C75-9DCD-BB50-1AF9-C5F4A092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DATASET DOWNLOAD -USING KAGGLE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6A8D2-FB0E-6CC9-0EC9-F261DC647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Steps to Get Dataset from Kaggle</a:t>
            </a:r>
          </a:p>
          <a:p>
            <a:pPr marL="0" indent="0">
              <a:buNone/>
            </a:pPr>
            <a:r>
              <a:rPr lang="en-US" dirty="0"/>
              <a:t>Step 1: Open Kaggle Website</a:t>
            </a:r>
          </a:p>
          <a:p>
            <a:pPr marL="0" indent="0">
              <a:buNone/>
            </a:pPr>
            <a:r>
              <a:rPr lang="en-US" dirty="0"/>
              <a:t>Step 2: Create Account / Login</a:t>
            </a:r>
          </a:p>
          <a:p>
            <a:pPr marL="0" indent="0">
              <a:buNone/>
            </a:pPr>
            <a:r>
              <a:rPr lang="en-IN" dirty="0"/>
              <a:t>Step 3: Search Dataset</a:t>
            </a:r>
          </a:p>
          <a:p>
            <a:pPr marL="0" indent="0">
              <a:buNone/>
            </a:pPr>
            <a:r>
              <a:rPr lang="en-IN" dirty="0"/>
              <a:t>Step 4: Open Dataset	</a:t>
            </a:r>
          </a:p>
          <a:p>
            <a:pPr marL="0" indent="0">
              <a:buNone/>
            </a:pPr>
            <a:r>
              <a:rPr lang="en-IN" dirty="0"/>
              <a:t>Step 5: Download Dataset</a:t>
            </a:r>
          </a:p>
          <a:p>
            <a:pPr marL="0" indent="0">
              <a:buNone/>
            </a:pPr>
            <a:r>
              <a:rPr lang="en-US" dirty="0"/>
              <a:t>Step 6: Extract ZIP File (if needed)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921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1 – Import Data using Power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Excel workbook and go to Data → Get Data</a:t>
            </a:r>
          </a:p>
          <a:p>
            <a:r>
              <a:t>Select Excel Workbook and load the SBI dataset</a:t>
            </a:r>
          </a:p>
          <a:p>
            <a:r>
              <a:t>Choose Raw_Data sheet inside Power Query Editor</a:t>
            </a:r>
          </a:p>
          <a:p>
            <a:r>
              <a:t>Verify data types for numbers, text and dates</a:t>
            </a:r>
          </a:p>
          <a:p>
            <a:r>
              <a:t>Load cleaned data into Excel table for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2 – Data Cleaning in Power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Removed blank rows and checked duplicate customer IDs</a:t>
            </a:r>
          </a:p>
          <a:p>
            <a:r>
              <a:t>Formatted Age, Balance and Loan Amount columns as numeric</a:t>
            </a:r>
          </a:p>
          <a:p>
            <a:r>
              <a:t>Standardized text values like Gender and Loan Status</a:t>
            </a:r>
          </a:p>
          <a:p>
            <a:r>
              <a:t>Validated Customer_Since and tenure related columns</a:t>
            </a:r>
          </a:p>
          <a:p>
            <a:r>
              <a:t>Prepared clean dataset for dashboard reporting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Customers: 1000</a:t>
            </a:r>
          </a:p>
          <a:p>
            <a:r>
              <a:t>Total States Covered: 13</a:t>
            </a:r>
          </a:p>
          <a:p>
            <a:r>
              <a:t>Account Types: Savings, Salary, Current</a:t>
            </a:r>
          </a:p>
          <a:p>
            <a:r>
              <a:t>Main fields include Balance, Transactions, Credit Score and Loan Status</a:t>
            </a:r>
          </a:p>
          <a:p>
            <a:r>
              <a:t>Dataset supports customer, financial and digital banking analysis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F6B31-A2E3-95D4-9A75-C1903C17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A67D-7568-BB16-D552-2CBEC0A7C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Formatting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7D54A-5481-3819-420B-9B74DE416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7256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/>
              <a:t>Method 1: Highlight Cells Greater Than a Value</a:t>
            </a:r>
          </a:p>
          <a:p>
            <a:pPr marL="0" indent="0">
              <a:buNone/>
            </a:pPr>
            <a:r>
              <a:rPr lang="en-US" sz="1400" dirty="0"/>
              <a:t>1.	Select the cells containing numbers.</a:t>
            </a:r>
          </a:p>
          <a:p>
            <a:pPr marL="0" indent="0">
              <a:buNone/>
            </a:pPr>
            <a:r>
              <a:rPr lang="en-US" sz="1400" dirty="0"/>
              <a:t>2.	Go to Home → Conditional Formatting.</a:t>
            </a:r>
          </a:p>
          <a:p>
            <a:pPr marL="0" indent="0">
              <a:buNone/>
            </a:pPr>
            <a:r>
              <a:rPr lang="en-US" sz="1400" dirty="0"/>
              <a:t>3.	Click Highlight Cells Rules → Greater Than.</a:t>
            </a:r>
          </a:p>
          <a:p>
            <a:pPr marL="0" indent="0">
              <a:buNone/>
            </a:pPr>
            <a:r>
              <a:rPr lang="en-US" sz="1400" dirty="0"/>
              <a:t>4.	Enter the value “number”.</a:t>
            </a:r>
          </a:p>
          <a:p>
            <a:pPr marL="0" indent="0">
              <a:buNone/>
            </a:pPr>
            <a:r>
              <a:rPr lang="en-US" sz="1400" dirty="0"/>
              <a:t>5.	Choose a formatting color.</a:t>
            </a:r>
          </a:p>
          <a:p>
            <a:pPr marL="0" indent="0">
              <a:buNone/>
            </a:pPr>
            <a:r>
              <a:rPr lang="en-US" sz="1400" dirty="0"/>
              <a:t>6.	Click OK.</a:t>
            </a:r>
          </a:p>
          <a:p>
            <a:pPr marL="0" indent="0">
              <a:buNone/>
            </a:pPr>
            <a:r>
              <a:rPr lang="en-US" sz="1400" dirty="0"/>
              <a:t>Method 2: Color Scale</a:t>
            </a:r>
          </a:p>
          <a:p>
            <a:pPr marL="0" indent="0">
              <a:buNone/>
            </a:pPr>
            <a:r>
              <a:rPr lang="en-US" sz="1400" dirty="0"/>
              <a:t>7.	Select the data range.</a:t>
            </a:r>
          </a:p>
          <a:p>
            <a:pPr marL="0" indent="0">
              <a:buNone/>
            </a:pPr>
            <a:r>
              <a:rPr lang="en-US" sz="1400" dirty="0"/>
              <a:t>8.	Go to Home → Conditional Formatting.</a:t>
            </a:r>
          </a:p>
          <a:p>
            <a:pPr marL="0" indent="0">
              <a:buNone/>
            </a:pPr>
            <a:r>
              <a:rPr lang="en-US" sz="1400" dirty="0"/>
              <a:t>9.	Click Color Scales.</a:t>
            </a:r>
          </a:p>
          <a:p>
            <a:pPr marL="0" indent="0">
              <a:buNone/>
            </a:pPr>
            <a:r>
              <a:rPr lang="en-US" sz="1400" dirty="0"/>
              <a:t>10.	Choose a color style.</a:t>
            </a:r>
          </a:p>
        </p:txBody>
      </p:sp>
    </p:spTree>
    <p:extLst>
      <p:ext uri="{BB962C8B-B14F-4D97-AF65-F5344CB8AC3E}">
        <p14:creationId xmlns:p14="http://schemas.microsoft.com/office/powerpoint/2010/main" val="2660499630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08DB-A764-5BE5-F529-D4737D62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384F3-A00C-616B-CD2C-C29A7AF8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Formatting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F675E-D076-0959-C2D9-5F8227B5A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Method 3: Data Bars</a:t>
            </a:r>
          </a:p>
          <a:p>
            <a:pPr marL="0" indent="0">
              <a:buNone/>
            </a:pPr>
            <a:r>
              <a:rPr lang="en-US" dirty="0"/>
              <a:t>11.	Select the data.</a:t>
            </a:r>
          </a:p>
          <a:p>
            <a:pPr marL="0" indent="0">
              <a:buNone/>
            </a:pPr>
            <a:r>
              <a:rPr lang="en-US" dirty="0"/>
              <a:t>12.	Go to Home → Conditional Formatting.</a:t>
            </a:r>
          </a:p>
          <a:p>
            <a:pPr marL="0" indent="0">
              <a:buNone/>
            </a:pPr>
            <a:r>
              <a:rPr lang="en-US" dirty="0"/>
              <a:t>13.	Click Data Bars.</a:t>
            </a:r>
          </a:p>
          <a:p>
            <a:pPr marL="0" indent="0">
              <a:buNone/>
            </a:pPr>
            <a:r>
              <a:rPr lang="en-US" dirty="0"/>
              <a:t>14.	Choose a bar color.</a:t>
            </a:r>
          </a:p>
          <a:p>
            <a:pPr marL="0" indent="0">
              <a:buNone/>
            </a:pPr>
            <a:r>
              <a:rPr lang="en-US" dirty="0"/>
              <a:t>Method 4: Icon Sets</a:t>
            </a:r>
          </a:p>
          <a:p>
            <a:pPr marL="0" indent="0">
              <a:buNone/>
            </a:pPr>
            <a:r>
              <a:rPr lang="en-US" dirty="0"/>
              <a:t>15.	Select the cells.</a:t>
            </a:r>
          </a:p>
          <a:p>
            <a:pPr marL="0" indent="0">
              <a:buNone/>
            </a:pPr>
            <a:r>
              <a:rPr lang="en-US" dirty="0"/>
              <a:t>16.	Go to Conditional Formatting.</a:t>
            </a:r>
          </a:p>
          <a:p>
            <a:pPr marL="0" indent="0">
              <a:buNone/>
            </a:pPr>
            <a:r>
              <a:rPr lang="en-US" dirty="0"/>
              <a:t>17.	Click Icon Sets.</a:t>
            </a:r>
          </a:p>
          <a:p>
            <a:pPr marL="0" indent="0">
              <a:buNone/>
            </a:pPr>
            <a:r>
              <a:rPr lang="en-US" dirty="0"/>
              <a:t>18.	Choose an icon style.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1409104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D564-BB90-AB74-9F9B-767B7A29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A78DB-9C8F-C7EF-B461-F3B3105B3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6F9ED8-3719-092C-3E06-2445E797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46" y="423747"/>
            <a:ext cx="8274205" cy="58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80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– KPI Formulas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83592-661C-3864-523A-C2AAA5835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5" y="2432690"/>
            <a:ext cx="8044544" cy="38919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– Pivot Table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Inserted Pivot Tables from cleaned dataset</a:t>
            </a:r>
          </a:p>
          <a:p>
            <a:r>
              <a:t>Created Age Group vs Customer Count analysis</a:t>
            </a:r>
          </a:p>
          <a:p>
            <a:r>
              <a:t>Built State-wise customer distribution pivot</a:t>
            </a:r>
          </a:p>
          <a:p>
            <a:r>
              <a:t>Analyzed transaction count and account balances</a:t>
            </a:r>
          </a:p>
          <a:p>
            <a:r>
              <a:t>Generated loan and digital banking summaries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54CBF-3DC8-5D17-A40F-0C3FBE73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8A7FA-052D-FF03-A58B-A46D26527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28809-B554-3F12-31D2-BF4A4B33B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385"/>
            <a:ext cx="9144000" cy="627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94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Distribution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Madhya Pradesh: 150 customers</a:t>
            </a:r>
          </a:p>
          <a:p>
            <a:r>
              <a:t>Maharashtra: 136 customers</a:t>
            </a:r>
          </a:p>
          <a:p>
            <a:r>
              <a:t>Tamil Nadu: 132 customers</a:t>
            </a:r>
          </a:p>
          <a:p>
            <a:r>
              <a:t>Telangana: 74 customers</a:t>
            </a:r>
          </a:p>
          <a:p>
            <a:r>
              <a:t>Delhi: 69 customers</a:t>
            </a:r>
          </a:p>
          <a:p>
            <a:r>
              <a:t>Pivot charts were used for demographic comparison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Deposits and Balance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Customer Balance: ₹1,229,245</a:t>
            </a:r>
          </a:p>
          <a:p>
            <a:r>
              <a:t>Highest Balance Recorded: ₹2,498,099</a:t>
            </a:r>
          </a:p>
          <a:p>
            <a:r>
              <a:t>VIP customers maintain significantly higher balances</a:t>
            </a:r>
          </a:p>
          <a:p>
            <a:r>
              <a:t>Savings accounts contribute major customer volume</a:t>
            </a:r>
          </a:p>
          <a:p>
            <a:r>
              <a:t>Balance trends visualized using column charts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Loan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Loans: 363</a:t>
            </a:r>
          </a:p>
          <a:p>
            <a:r>
              <a:t>Closed Loans: 186</a:t>
            </a:r>
          </a:p>
          <a:p>
            <a:r>
              <a:t>Loan amount and status analyzed through pivot tables</a:t>
            </a:r>
          </a:p>
          <a:p>
            <a:r>
              <a:t>Customers with higher credit scores showed lower risk</a:t>
            </a:r>
          </a:p>
          <a:p>
            <a:r>
              <a:t>Loan trends visualized using pie and bar charts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Banking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Mobile Banking Users: 675</a:t>
            </a:r>
          </a:p>
          <a:p>
            <a:r>
              <a:t>Internet Banking Users: 706</a:t>
            </a:r>
          </a:p>
          <a:p>
            <a:r>
              <a:t>Digital adoption compared across customer categories</a:t>
            </a:r>
          </a:p>
          <a:p>
            <a:r>
              <a:t>Mobile banking usage highest among young professionals</a:t>
            </a:r>
          </a:p>
          <a:p>
            <a:r>
              <a:t>Dashboard uses donut and bar charts for visualization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Customer Satisfaction &amp;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Satisfaction Score: 3.03</a:t>
            </a:r>
          </a:p>
          <a:p>
            <a:r>
              <a:t>Average Credit Score: 697.1</a:t>
            </a:r>
          </a:p>
          <a:p>
            <a:r>
              <a:t>Low satisfaction customers identified for improvement</a:t>
            </a:r>
          </a:p>
          <a:p>
            <a:r>
              <a:t>Credit score used to evaluate financial risk</a:t>
            </a:r>
          </a:p>
          <a:p>
            <a:r>
              <a:t>Conditional formatting applied for KPI highlighting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Dashboard Visualization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Cards for Customers, Balances and Transactions</a:t>
            </a:r>
          </a:p>
          <a:p>
            <a:r>
              <a:t>Pivot Charts for Age Group and State Analysis</a:t>
            </a:r>
          </a:p>
          <a:p>
            <a:r>
              <a:t>Slicers used for interactive filtering</a:t>
            </a:r>
          </a:p>
          <a:p>
            <a:r>
              <a:t>Bar, Pie and Column charts used for storytelling</a:t>
            </a:r>
          </a:p>
          <a:p>
            <a:r>
              <a:t>Professional dashboard layout for business presentation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0252A-54C4-E015-9A98-714462CF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1DC9-0ACA-32D8-C934-C4B74F842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9E7149-7A49-BE38-2B5B-E61A30E92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89CAB-994B-024F-9E31-C2D147F40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3" y="2404509"/>
            <a:ext cx="7990114" cy="390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272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Query improved data quality and consistency</a:t>
            </a:r>
          </a:p>
          <a:p>
            <a:r>
              <a:t>Excel formulas automated KPI calculations</a:t>
            </a:r>
          </a:p>
          <a:p>
            <a:r>
              <a:t>Pivot tables simplified customer and financial analysis</a:t>
            </a:r>
          </a:p>
          <a:p>
            <a:r>
              <a:t>Dashboard enabled quick decision-making using visuals</a:t>
            </a:r>
          </a:p>
          <a:p>
            <a:r>
              <a:t>Project demonstrates end-to-end Excel data analytics workflow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0FDD2-081E-3534-181F-7F322529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336A-C053-807D-087E-5FA341D4C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4000" b="1" dirty="0"/>
              <a:t>THANK YOU</a:t>
            </a:r>
            <a:endParaRPr sz="4000" b="1" dirty="0"/>
          </a:p>
        </p:txBody>
      </p:sp>
    </p:spTree>
    <p:extLst>
      <p:ext uri="{BB962C8B-B14F-4D97-AF65-F5344CB8AC3E}">
        <p14:creationId xmlns:p14="http://schemas.microsoft.com/office/powerpoint/2010/main" val="1091324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2011</TotalTime>
  <Words>805</Words>
  <Application>Microsoft Office PowerPoint</Application>
  <PresentationFormat>On-screen Show (4:3)</PresentationFormat>
  <Paragraphs>127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Garamond</vt:lpstr>
      <vt:lpstr>Organic</vt:lpstr>
      <vt:lpstr>  SBI Banking Customer Analysis</vt:lpstr>
      <vt:lpstr>Project Abstract</vt:lpstr>
      <vt:lpstr>Workbook Structure</vt:lpstr>
      <vt:lpstr>DATASET DOWNLOAD -USING KAGGLE</vt:lpstr>
      <vt:lpstr>DATASET DOWNLOAD -USING KAGGLE</vt:lpstr>
      <vt:lpstr>Step 1 – Import Data using Power Query</vt:lpstr>
      <vt:lpstr>Step 2 – Data Cleaning in Power Query</vt:lpstr>
      <vt:lpstr>Step 3 – Data Understanding</vt:lpstr>
      <vt:lpstr>Conditional Formatting </vt:lpstr>
      <vt:lpstr>Conditional Formatting </vt:lpstr>
      <vt:lpstr>PowerPoint Presentation</vt:lpstr>
      <vt:lpstr>Step 4 – KPI Formulas Used</vt:lpstr>
      <vt:lpstr>Step 5 – Pivot Table Creation</vt:lpstr>
      <vt:lpstr>PowerPoint Presentation</vt:lpstr>
      <vt:lpstr>Customer Distribution Analysis</vt:lpstr>
      <vt:lpstr>Deposits and Balance Insights</vt:lpstr>
      <vt:lpstr>Loan Behavior Analysis</vt:lpstr>
      <vt:lpstr>Digital Banking Adoption</vt:lpstr>
      <vt:lpstr>Customer Satisfaction &amp; Risk Analysis</vt:lpstr>
      <vt:lpstr>Dashboard Visualization Components</vt:lpstr>
      <vt:lpstr>DASHBOARD</vt:lpstr>
      <vt:lpstr>Conclusion &amp; Business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dpriyanka.lakshmi@gmail.com</cp:lastModifiedBy>
  <cp:revision>13</cp:revision>
  <dcterms:created xsi:type="dcterms:W3CDTF">2013-01-27T09:14:16Z</dcterms:created>
  <dcterms:modified xsi:type="dcterms:W3CDTF">2026-05-25T13:49:12Z</dcterms:modified>
  <cp:category/>
</cp:coreProperties>
</file>